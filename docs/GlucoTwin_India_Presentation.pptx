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4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960120"/>
            <a:ext cx="2103120" cy="2103120"/>
          </a:xfrm>
          <a:prstGeom prst="ellipse">
            <a:avLst/>
          </a:prstGeom>
          <a:solidFill>
            <a:srgbClr val="1E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1737360"/>
            <a:ext cx="1325880" cy="1325880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2743200"/>
            <a:ext cx="914400" cy="914400"/>
          </a:xfrm>
          <a:prstGeom prst="ellipse">
            <a:avLst/>
          </a:prstGeom>
          <a:solidFill>
            <a:srgbClr val="786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95560" y="3246120"/>
            <a:ext cx="502920" cy="502920"/>
          </a:xfrm>
          <a:prstGeom prst="ellipse">
            <a:avLst/>
          </a:prstGeom>
          <a:solidFill>
            <a:srgbClr val="F3C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EE3E2"/>
                </a:solidFill>
                <a:latin typeface="Aptos"/>
              </a:rPr>
              <a:t>DIGITECH  /  DIGITAL TWIN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786384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ptos Display"/>
              </a:rPr>
              <a:t>GlucoTwin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542032"/>
            <a:ext cx="7498079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D8E5F5"/>
                </a:solidFill>
                <a:latin typeface="Aptos"/>
              </a:rPr>
              <a:t>An explainable digital twin for two-hour early warning of glucose excursions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749039"/>
            <a:ext cx="6080760" cy="960120"/>
          </a:xfrm>
          <a:prstGeom prst="roundRect">
            <a:avLst/>
          </a:prstGeom>
          <a:solidFill>
            <a:srgbClr val="1E3767"/>
          </a:solidFill>
          <a:ln w="12700">
            <a:solidFill>
              <a:srgbClr val="34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968496"/>
            <a:ext cx="5577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HISTORICAL EHR  +  LIVE-LIKE WEARABLE STREAM  →  RISK ESTIMATE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66360"/>
            <a:ext cx="64922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9C8DC"/>
                </a:solidFill>
                <a:latin typeface="Aptos"/>
              </a:rPr>
              <a:t>Prototype uses synthetic data only. Research demonstration, not a medical device.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263640"/>
            <a:ext cx="5486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1A6C3"/>
                </a:solidFill>
                <a:latin typeface="Aptos"/>
              </a:rPr>
              <a:t>Zeeshan Ali Sheikh  ·  Team DigiTech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9CB4D1"/>
                </a:solidFill>
                <a:latin typeface="Aptos"/>
              </a:rPr>
              <a:t>DIGITECH  ·  GLUCOTWIN INDIA  ·  DIGITAL TWIN CHALLENGE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9CB4D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B7F84"/>
                </a:solidFill>
                <a:latin typeface="Aptos"/>
              </a:rPr>
              <a:t>01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2446"/>
                </a:solidFill>
                <a:latin typeface="Aptos Display"/>
              </a:rPr>
              <a:t>From isolated readings to a changing patient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0432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18A"/>
                </a:solidFill>
                <a:latin typeface="Aptos"/>
              </a:rPr>
              <a:t>The challenge is to fuse historical context with a dynamic stream and forecast one concrete outcome.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3429000" cy="3337560"/>
          </a:xfrm>
          <a:prstGeom prst="roundRect">
            <a:avLst/>
          </a:prstGeom>
          <a:solidFill>
            <a:srgbClr val="132446"/>
          </a:solidFill>
          <a:ln w="12700">
            <a:solidFill>
              <a:srgbClr val="132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12848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EE3E2"/>
                </a:solidFill>
                <a:latin typeface="Aptos"/>
              </a:rPr>
              <a:t>INDIA · DIABETES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70048"/>
            <a:ext cx="274320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ptos Display"/>
              </a:rPr>
              <a:t>90 million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675887"/>
            <a:ext cx="27432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E2F2"/>
                </a:solidFill>
                <a:latin typeface="Aptos"/>
              </a:rPr>
              <a:t>estimated adults aged 20–79 living with diabetes in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736592"/>
            <a:ext cx="2788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EB2CE"/>
                </a:solidFill>
                <a:latin typeface="Aptos"/>
              </a:rPr>
              <a:t>IDF Diabetes Atlas, 11th ed. (2025)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74519"/>
            <a:ext cx="333756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7F84"/>
                </a:solidFill>
                <a:latin typeface="Aptos"/>
              </a:rPr>
              <a:t>THE CARE GAP</a:t>
            </a:r>
          </a:p>
        </p:txBody>
      </p:sp>
      <p:sp>
        <p:nvSpPr>
          <p:cNvPr id="12" name="Oval 11"/>
          <p:cNvSpPr/>
          <p:nvPr/>
        </p:nvSpPr>
        <p:spPr>
          <a:xfrm>
            <a:off x="4590288" y="2834640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743200"/>
            <a:ext cx="25146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14F"/>
                </a:solidFill>
                <a:latin typeface="Aptos"/>
              </a:rPr>
              <a:t>A lab value is a snapshot.</a:t>
            </a:r>
          </a:p>
        </p:txBody>
      </p:sp>
      <p:sp>
        <p:nvSpPr>
          <p:cNvPr id="14" name="Oval 13"/>
          <p:cNvSpPr/>
          <p:nvPr/>
        </p:nvSpPr>
        <p:spPr>
          <a:xfrm>
            <a:off x="4590288" y="3493008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3401568"/>
            <a:ext cx="25146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14F"/>
                </a:solidFill>
                <a:latin typeface="Aptos"/>
              </a:rPr>
              <a:t>Glucose and daily context change hour by hour.</a:t>
            </a:r>
          </a:p>
        </p:txBody>
      </p:sp>
      <p:sp>
        <p:nvSpPr>
          <p:cNvPr id="16" name="Oval 15"/>
          <p:cNvSpPr/>
          <p:nvPr/>
        </p:nvSpPr>
        <p:spPr>
          <a:xfrm>
            <a:off x="4590288" y="4151375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4059935"/>
            <a:ext cx="25146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14F"/>
                </a:solidFill>
                <a:latin typeface="Aptos"/>
              </a:rPr>
              <a:t>A forecast needs time-aligned signals.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874519"/>
            <a:ext cx="36118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194560"/>
            <a:ext cx="2971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868D9"/>
                </a:solidFill>
                <a:latin typeface="Aptos"/>
              </a:rPr>
              <a:t>OUR NARROW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743200"/>
            <a:ext cx="283464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32446"/>
                </a:solidFill>
                <a:latin typeface="Aptos"/>
              </a:rPr>
              <a:t>Forecast a synthetic glucose threshold crossing within two hours.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096512"/>
            <a:ext cx="28803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18A"/>
                </a:solidFill>
                <a:latin typeface="Aptos"/>
              </a:rPr>
              <a:t>A proof-of-concept, not a diagnosis or treatment engine.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0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18A"/>
                </a:solidFill>
                <a:latin typeface="Aptos"/>
              </a:rPr>
              <a:t>Source: IDF Diabetes Atlas (2025); WHO Diabetes Fact Sheet. Statistics are context, not model-training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8391A6"/>
                </a:solidFill>
                <a:latin typeface="Aptos"/>
              </a:rPr>
              <a:t>DIGITECH  ·  GLUCOTWIN INDIA  ·  DIGITAL TWIN CHALLENGE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8391A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B7F84"/>
                </a:solidFill>
                <a:latin typeface="Aptos"/>
              </a:rPr>
              <a:t>02 ·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2446"/>
                </a:solidFill>
                <a:latin typeface="Aptos Display"/>
              </a:rPr>
              <a:t>A forecast that is specific enough to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0432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18A"/>
                </a:solidFill>
                <a:latin typeface="Aptos"/>
              </a:rPr>
              <a:t>The model only forecasts new threshold crossings when the current simulated glucose is below the threshold.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2331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2487168"/>
            <a:ext cx="384048" cy="292608"/>
          </a:xfrm>
          <a:prstGeom prst="roundRect">
            <a:avLst/>
          </a:prstGeom>
          <a:solidFill>
            <a:srgbClr val="2F9EAC"/>
          </a:solidFill>
          <a:ln w="12700">
            <a:solidFill>
              <a:srgbClr val="2F9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23744"/>
            <a:ext cx="25603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944368"/>
            <a:ext cx="199339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446"/>
                </a:solidFill>
                <a:latin typeface="Aptos"/>
              </a:rPr>
              <a:t>Twin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474720"/>
            <a:ext cx="197510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18A"/>
                </a:solidFill>
                <a:latin typeface="Aptos"/>
              </a:rPr>
              <a:t>Patient profile + latest stream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53512" y="3310128"/>
            <a:ext cx="384048" cy="0"/>
          </a:xfrm>
          <a:prstGeom prst="line">
            <a:avLst/>
          </a:prstGeom>
          <a:ln w="25400">
            <a:solidFill>
              <a:srgbClr val="2F9E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2286000"/>
            <a:ext cx="2331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39312" y="2487168"/>
            <a:ext cx="384048" cy="292608"/>
          </a:xfrm>
          <a:prstGeom prst="roundRect">
            <a:avLst/>
          </a:prstGeom>
          <a:solidFill>
            <a:srgbClr val="2F9EAC"/>
          </a:solidFill>
          <a:ln w="12700">
            <a:solidFill>
              <a:srgbClr val="2F9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523744"/>
            <a:ext cx="25603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944368"/>
            <a:ext cx="199339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446"/>
                </a:solidFill>
                <a:latin typeface="Aptos"/>
              </a:rPr>
              <a:t>Forecast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3474720"/>
            <a:ext cx="197510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18A"/>
                </a:solidFill>
                <a:latin typeface="Aptos"/>
              </a:rPr>
              <a:t>P(crossing ≥180 mg/dL in 2h)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33872" y="3310128"/>
            <a:ext cx="384048" cy="0"/>
          </a:xfrm>
          <a:prstGeom prst="line">
            <a:avLst/>
          </a:prstGeom>
          <a:ln w="25400">
            <a:solidFill>
              <a:srgbClr val="2F9E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55080" y="2286000"/>
            <a:ext cx="2331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19672" y="2487168"/>
            <a:ext cx="384048" cy="292608"/>
          </a:xfrm>
          <a:prstGeom prst="roundRect">
            <a:avLst/>
          </a:prstGeom>
          <a:solidFill>
            <a:srgbClr val="2F9EAC"/>
          </a:solidFill>
          <a:ln w="12700">
            <a:solidFill>
              <a:srgbClr val="2F9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523744"/>
            <a:ext cx="25603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944368"/>
            <a:ext cx="199339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446"/>
                </a:solidFill>
                <a:latin typeface="Aptos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3474720"/>
            <a:ext cx="197510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18A"/>
                </a:solidFill>
                <a:latin typeface="Aptos"/>
              </a:rPr>
              <a:t>Check signal and context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4232" y="3310128"/>
            <a:ext cx="384048" cy="0"/>
          </a:xfrm>
          <a:prstGeom prst="line">
            <a:avLst/>
          </a:prstGeom>
          <a:ln w="25400">
            <a:solidFill>
              <a:srgbClr val="2F9E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235440" y="2286000"/>
            <a:ext cx="2331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00032" y="2487168"/>
            <a:ext cx="384048" cy="292608"/>
          </a:xfrm>
          <a:prstGeom prst="roundRect">
            <a:avLst/>
          </a:prstGeom>
          <a:solidFill>
            <a:srgbClr val="2F9EAC"/>
          </a:solidFill>
          <a:ln w="12700">
            <a:solidFill>
              <a:srgbClr val="2F9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2523744"/>
            <a:ext cx="25603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2944368"/>
            <a:ext cx="199339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446"/>
                </a:solidFill>
                <a:latin typeface="Aptos"/>
              </a:rPr>
              <a:t>Human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3474720"/>
            <a:ext cx="197510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18A"/>
                </a:solidFill>
                <a:latin typeface="Aptos"/>
              </a:rPr>
              <a:t>Clinician remains in control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800600"/>
            <a:ext cx="10927080" cy="75895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E7D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001768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15A12"/>
                </a:solidFill>
                <a:latin typeface="Aptos"/>
              </a:rPr>
              <a:t>180 mg/dL is a prototype label chosen for this simulator — not a universal clinical alert threshold.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8391A6"/>
                </a:solidFill>
                <a:latin typeface="Aptos"/>
              </a:rPr>
              <a:t>DIGITECH  ·  GLUCOTWIN INDIA  ·  DIGITAL TWIN CHALLENGE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8391A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B7F84"/>
                </a:solidFill>
                <a:latin typeface="Aptos"/>
              </a:rPr>
              <a:t>03 · FEATURE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2446"/>
                </a:solidFill>
                <a:latin typeface="Aptos Display"/>
              </a:rPr>
              <a:t>Two streams make one patient-specific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0432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18A"/>
                </a:solidFill>
                <a:latin typeface="Aptos"/>
              </a:rPr>
              <a:t>Static data explains baseline context; dynamic signals show what is changing now.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4983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983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9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48840"/>
            <a:ext cx="1417320" cy="292608"/>
          </a:xfrm>
          <a:prstGeom prst="roundRect">
            <a:avLst/>
          </a:prstGeom>
          <a:solidFill>
            <a:srgbClr val="DDEAFF"/>
          </a:solidFill>
          <a:ln w="12700">
            <a:solidFill>
              <a:srgbClr val="DD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185416"/>
            <a:ext cx="128930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2446"/>
                </a:solidFill>
                <a:latin typeface="Aptos"/>
              </a:rPr>
              <a:t>STATIC / EHR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2148840"/>
            <a:ext cx="1508760" cy="292608"/>
          </a:xfrm>
          <a:prstGeom prst="roundRect">
            <a:avLst/>
          </a:prstGeom>
          <a:solidFill>
            <a:srgbClr val="DDF6F3"/>
          </a:solidFill>
          <a:ln w="12700">
            <a:solidFill>
              <a:srgbClr val="DD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76288" y="2185416"/>
            <a:ext cx="1380743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B7F84"/>
                </a:solidFill>
                <a:latin typeface="Aptos"/>
              </a:rPr>
              <a:t>DYNAMIC 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4206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32446"/>
                </a:solidFill>
                <a:latin typeface="Aptos"/>
              </a:rPr>
              <a:t>Historical / patient context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337560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246120"/>
            <a:ext cx="388620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14F"/>
                </a:solidFill>
                <a:latin typeface="Aptos"/>
              </a:rPr>
              <a:t>Age, BMI and diabetes duration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877055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785615"/>
            <a:ext cx="388620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14F"/>
                </a:solidFill>
                <a:latin typeface="Aptos"/>
              </a:rPr>
              <a:t>HbA1c and hypertension flag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4416551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325112"/>
            <a:ext cx="388620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14F"/>
                </a:solidFill>
                <a:latin typeface="Aptos"/>
              </a:rPr>
              <a:t>Synthetic adherence factor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697480"/>
            <a:ext cx="4206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32446"/>
                </a:solidFill>
                <a:latin typeface="Aptos"/>
              </a:rPr>
              <a:t>Hourly observations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0" y="3337560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3246120"/>
            <a:ext cx="388620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14F"/>
                </a:solidFill>
                <a:latin typeface="Aptos"/>
              </a:rPr>
              <a:t>CGM value, trend and variability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0" y="3803903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3712463"/>
            <a:ext cx="388620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14F"/>
                </a:solidFill>
                <a:latin typeface="Aptos"/>
              </a:rPr>
              <a:t>Meal carbs + steps/activity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0" y="4270248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4178808"/>
            <a:ext cx="388620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14F"/>
                </a:solidFill>
                <a:latin typeface="Aptos"/>
              </a:rPr>
              <a:t>Heart rate, HRV and sleep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0" y="4736592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4645152"/>
            <a:ext cx="388620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14F"/>
                </a:solidFill>
                <a:latin typeface="Aptos"/>
              </a:rPr>
              <a:t>Time since meal + stress proxy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23560" y="3611880"/>
            <a:ext cx="886968" cy="0"/>
          </a:xfrm>
          <a:prstGeom prst="line">
            <a:avLst/>
          </a:prstGeom>
          <a:ln w="25400">
            <a:solidFill>
              <a:srgbClr val="786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063240" y="5577840"/>
            <a:ext cx="6080760" cy="457200"/>
          </a:xfrm>
          <a:prstGeom prst="roundRect">
            <a:avLst/>
          </a:prstGeom>
          <a:solidFill>
            <a:srgbClr val="132446"/>
          </a:solidFill>
          <a:ln w="12700">
            <a:solidFill>
              <a:srgbClr val="132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46120" y="5678424"/>
            <a:ext cx="5715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TIME ALIGNMENT  ·  FEATURE WINDOW AT TIME t  ·  NO FUTURE DATA INPUTS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8391A6"/>
                </a:solidFill>
                <a:latin typeface="Aptos"/>
              </a:rPr>
              <a:t>DIGITECH  ·  GLUCOTWIN INDIA  ·  DIGITAL TWIN CHALLENGE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8391A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B7F84"/>
                </a:solidFill>
                <a:latin typeface="Aptos"/>
              </a:rPr>
              <a:t>04 ·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2446"/>
                </a:solidFill>
                <a:latin typeface="Aptos Display"/>
              </a:rPr>
              <a:t>A transparent path from synthetic data to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0432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18A"/>
                </a:solidFill>
                <a:latin typeface="Aptos"/>
              </a:rPr>
              <a:t>Architecture keeps inference-time features separate from retrospective outcome labels.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00200"/>
            <a:ext cx="1133856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8391A6"/>
                </a:solidFill>
                <a:latin typeface="Aptos"/>
              </a:rPr>
              <a:t>DIGITECH  ·  GLUCOTWIN INDIA  ·  DIGITAL TWIN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8391A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B7F84"/>
                </a:solidFill>
                <a:latin typeface="Aptos"/>
              </a:rPr>
              <a:t>05 · DATA AND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2446"/>
                </a:solidFill>
                <a:latin typeface="Aptos Display"/>
              </a:rPr>
              <a:t>Reproducible simulation — no patient data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0432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18A"/>
                </a:solidFill>
                <a:latin typeface="Aptos"/>
              </a:rPr>
              <a:t>The simulator generates patient-specific trajectories and labels each timestamp from the following two hours.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12064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389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32446"/>
                </a:solidFill>
                <a:latin typeface="Aptos"/>
              </a:rPr>
              <a:t>What is generated?</a:t>
            </a:r>
          </a:p>
        </p:txBody>
      </p:sp>
      <p:sp>
        <p:nvSpPr>
          <p:cNvPr id="7" name="Oval 6"/>
          <p:cNvSpPr/>
          <p:nvPr/>
        </p:nvSpPr>
        <p:spPr>
          <a:xfrm>
            <a:off x="932688" y="2743200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1760"/>
            <a:ext cx="41605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14F"/>
                </a:solidFill>
                <a:latin typeface="Aptos"/>
              </a:rPr>
              <a:t>240 synthetic patient profiles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3218688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127248"/>
            <a:ext cx="41605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14F"/>
                </a:solidFill>
                <a:latin typeface="Aptos"/>
              </a:rPr>
              <a:t>14-day timeline; last 2 hours are label context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694176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602736"/>
            <a:ext cx="41605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14F"/>
                </a:solidFill>
                <a:latin typeface="Aptos"/>
              </a:rPr>
              <a:t>80,160 rows total across the full stream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169663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078224"/>
            <a:ext cx="41605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14F"/>
                </a:solidFill>
                <a:latin typeface="Aptos"/>
              </a:rPr>
              <a:t>Meals, activity, HR/HRV, sleep and CGM-like values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5303520" cy="3429000"/>
          </a:xfrm>
          <a:prstGeom prst="roundRect">
            <a:avLst/>
          </a:prstGeom>
          <a:solidFill>
            <a:srgbClr val="132446"/>
          </a:solidFill>
          <a:ln w="12700">
            <a:solidFill>
              <a:srgbClr val="132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03120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Target construction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97480"/>
            <a:ext cx="448056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8E5F5"/>
                </a:solidFill>
                <a:latin typeface="Aptos"/>
              </a:rPr>
              <a:t>At time t, use only current and past features.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29000"/>
            <a:ext cx="44805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7EE3E2"/>
                </a:solidFill>
                <a:latin typeface="Aptos"/>
              </a:rPr>
              <a:t>Positive label: either t+1h or t+2h reaches ≥180 mg/dL.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51960"/>
            <a:ext cx="44805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8E5F5"/>
                </a:solidFill>
                <a:latin typeface="Aptos"/>
              </a:rPr>
              <a:t>Rows already ≥180 mg/dL are excluded from the early-warning target and surfaced separately.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596128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7F84"/>
                </a:solidFill>
                <a:latin typeface="Aptos"/>
              </a:rPr>
              <a:t>Future glucose is used only to create the retrospective label. It is not included in FEATURE_COLUMNS.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8391A6"/>
                </a:solidFill>
                <a:latin typeface="Aptos"/>
              </a:rPr>
              <a:t>DIGITECH  ·  GLUCOTWIN INDIA  ·  DIGITAL TWIN CHALLENGE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8391A6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B7F84"/>
                </a:solidFill>
                <a:latin typeface="Aptos"/>
              </a:rPr>
              <a:t>06 · AI/ML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2446"/>
                </a:solidFill>
                <a:latin typeface="Aptos Display"/>
              </a:rPr>
              <a:t>Patient-level evaluation to reduce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0432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18A"/>
                </a:solidFill>
                <a:latin typeface="Aptos"/>
              </a:rPr>
              <a:t>An Extra Trees baseline estimates probability; the operating threshold is tuned on validation data only.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32461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7F84"/>
                </a:solidFill>
                <a:latin typeface="Aptos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26517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32446"/>
                </a:solidFill>
                <a:latin typeface="Aptos"/>
              </a:rPr>
              <a:t>Extra Trees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474720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2468879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14F"/>
                </a:solidFill>
                <a:latin typeface="Aptos"/>
              </a:rPr>
              <a:t>Nonlinear tabular baseline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86200"/>
            <a:ext cx="2468879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14F"/>
                </a:solidFill>
                <a:latin typeface="Aptos"/>
              </a:rPr>
              <a:t>Validation threshold tuned for F2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480560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2468879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14F"/>
                </a:solidFill>
                <a:latin typeface="Aptos"/>
              </a:rPr>
              <a:t>Global feature importance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62272" y="1828800"/>
            <a:ext cx="32461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10312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868D9"/>
                </a:solidFill>
                <a:latin typeface="Aptos"/>
              </a:rPr>
              <a:t>SPLIT BY PATIENT 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18304" y="2761488"/>
            <a:ext cx="2560320" cy="384048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EE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18304" y="2761488"/>
            <a:ext cx="2560320" cy="384048"/>
          </a:xfrm>
          <a:prstGeom prst="roundRect">
            <a:avLst/>
          </a:prstGeom>
          <a:solidFill>
            <a:srgbClr val="2F9EAC"/>
          </a:solidFill>
          <a:ln w="12700">
            <a:solidFill>
              <a:srgbClr val="2F9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834640"/>
            <a:ext cx="2377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32446"/>
                </a:solidFill>
                <a:latin typeface="Aptos"/>
              </a:rPr>
              <a:t>Train · 153 patients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18304" y="3401568"/>
            <a:ext cx="2560320" cy="384048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EE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18304" y="3401568"/>
            <a:ext cx="652630" cy="384048"/>
          </a:xfrm>
          <a:prstGeom prst="roundRect">
            <a:avLst/>
          </a:prstGeom>
          <a:solidFill>
            <a:srgbClr val="7868D9"/>
          </a:solidFill>
          <a:ln w="12700">
            <a:solidFill>
              <a:srgbClr val="786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3474720"/>
            <a:ext cx="2377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32446"/>
                </a:solidFill>
                <a:latin typeface="Aptos"/>
              </a:rPr>
              <a:t>Validation · 39 patients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18304" y="4041648"/>
            <a:ext cx="2560320" cy="384048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EE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18304" y="4041648"/>
            <a:ext cx="803237" cy="384048"/>
          </a:xfrm>
          <a:prstGeom prst="roundRect">
            <a:avLst/>
          </a:prstGeom>
          <a:solidFill>
            <a:srgbClr val="F3C94F"/>
          </a:solidFill>
          <a:ln w="12700">
            <a:solidFill>
              <a:srgbClr val="F3C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4114800"/>
            <a:ext cx="2377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32446"/>
                </a:solidFill>
                <a:latin typeface="Aptos"/>
              </a:rPr>
              <a:t>Test · 48 patients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1828800"/>
            <a:ext cx="32461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2103120"/>
            <a:ext cx="2606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A17C11"/>
                </a:solidFill>
                <a:latin typeface="Aptos"/>
              </a:rPr>
              <a:t>THRESHOLD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606040"/>
            <a:ext cx="26517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32446"/>
                </a:solidFill>
                <a:latin typeface="Aptos"/>
              </a:rPr>
              <a:t>F2 tuned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291840"/>
            <a:ext cx="246888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14F"/>
                </a:solidFill>
                <a:latin typeface="Aptos"/>
              </a:rPr>
              <a:t>Validation threshold chosen to emphasise recall for an early-warning demo; false alerts remain a trade-off.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623560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18A"/>
                </a:solidFill>
                <a:latin typeface="Aptos"/>
              </a:rPr>
              <a:t>No patient can appear in more than one split. Metrics are estimates on a synthetic domain only.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8391A6"/>
                </a:solidFill>
                <a:latin typeface="Aptos"/>
              </a:rPr>
              <a:t>DIGITECH  ·  GLUCOTWIN INDIA  ·  DIGITAL TWIN CHALLENGE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8391A6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B7F84"/>
                </a:solidFill>
                <a:latin typeface="Aptos"/>
              </a:rPr>
              <a:t>07 · MEASURED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2446"/>
                </a:solidFill>
                <a:latin typeface="Aptos Display"/>
              </a:rPr>
              <a:t>Held-out synthetic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0432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18A"/>
                </a:solidFill>
                <a:latin typeface="Aptos"/>
              </a:rPr>
              <a:t>These numbers are computed by the included training script; they are not clinical performance claims.</a:t>
            </a:r>
          </a:p>
        </p:txBody>
      </p:sp>
      <p:pic>
        <p:nvPicPr>
          <p:cNvPr id="5" name="Picture 4" descr="mode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627632"/>
            <a:ext cx="6583680" cy="3886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874519"/>
            <a:ext cx="4206240" cy="3474720"/>
          </a:xfrm>
          <a:prstGeom prst="roundRect">
            <a:avLst/>
          </a:prstGeom>
          <a:solidFill>
            <a:srgbClr val="132446"/>
          </a:solidFill>
          <a:ln w="12700">
            <a:solidFill>
              <a:srgbClr val="132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2194560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EE3E2"/>
                </a:solidFill>
                <a:latin typeface="Aptos"/>
              </a:rPr>
              <a:t>AT THE SELECTED THRESHOLD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743200"/>
            <a:ext cx="34290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68.5%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310128"/>
            <a:ext cx="3429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8E5F5"/>
                </a:solidFill>
                <a:latin typeface="Aptos"/>
              </a:rPr>
              <a:t>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813048"/>
            <a:ext cx="34290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3C94F"/>
                </a:solidFill>
                <a:latin typeface="Aptos"/>
              </a:rPr>
              <a:t>25.9%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370832"/>
            <a:ext cx="3429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8E5F5"/>
                </a:solidFill>
                <a:latin typeface="Aptos"/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818888"/>
            <a:ext cx="3429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8E5F5"/>
                </a:solidFill>
                <a:latin typeface="Aptos"/>
              </a:rPr>
              <a:t>High recall comes with false alerts.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06440"/>
            <a:ext cx="10607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18A"/>
                </a:solidFill>
                <a:latin typeface="Aptos"/>
              </a:rPr>
              <a:t>Test set: 48 held-out patients, 15,184 eligible hourly rows. Positive event prevalence ≈ 4.5% overall.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8391A6"/>
                </a:solidFill>
                <a:latin typeface="Aptos"/>
              </a:rPr>
              <a:t>DIGITECH  ·  GLUCOTWIN INDIA  ·  DIGITAL TWIN CHALLENGE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8391A6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B7F84"/>
                </a:solidFill>
                <a:latin typeface="Aptos"/>
              </a:rPr>
              <a:t>08 ·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2446"/>
                </a:solidFill>
                <a:latin typeface="Aptos Display"/>
              </a:rPr>
              <a:t>A clinician-facing, patient-specific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0432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18A"/>
                </a:solidFill>
                <a:latin typeface="Aptos"/>
              </a:rPr>
              <a:t>The UI connects the probability to a 24-hour trend, EHR context and a safe review workflow.</a:t>
            </a:r>
          </a:p>
        </p:txBody>
      </p:sp>
      <p:pic>
        <p:nvPicPr>
          <p:cNvPr id="5" name="Picture 4" descr="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1328"/>
            <a:ext cx="1115568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053328"/>
            <a:ext cx="10698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61718A"/>
                </a:solidFill>
                <a:latin typeface="Aptos"/>
              </a:rPr>
              <a:t>Visual preview rendered from the included synthetic data and trained model. The repository includes the working Streamlit application.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8391A6"/>
                </a:solidFill>
                <a:latin typeface="Aptos"/>
              </a:rPr>
              <a:t>DIGITECH  ·  GLUCOTWIN INDIA  ·  DIGITAL TWIN CHALLENGE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8391A6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B7F84"/>
                </a:solidFill>
                <a:latin typeface="Aptos"/>
              </a:rPr>
              <a:t>09 · EXPLAINABILITY &amp;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2446"/>
                </a:solidFill>
                <a:latin typeface="Aptos Display"/>
              </a:rPr>
              <a:t>Let reviewers explore sensitivity without claiming causality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0432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18A"/>
                </a:solidFill>
                <a:latin typeface="Aptos"/>
              </a:rPr>
              <a:t>The what-if panel changes model inputs; it does not simulate full human physiology or prove that an intervention causes a safer outcome.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46634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0233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B7F84"/>
                </a:solidFill>
                <a:latin typeface="Aptos"/>
              </a:rPr>
              <a:t>WHAT-IF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43200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0314F"/>
                </a:solidFill>
                <a:latin typeface="Aptos"/>
              </a:rPr>
              <a:t>Carbs last hour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2724912"/>
            <a:ext cx="2011680" cy="237744"/>
          </a:xfrm>
          <a:prstGeom prst="roundRect">
            <a:avLst/>
          </a:prstGeom>
          <a:solidFill>
            <a:srgbClr val="E4EEFC"/>
          </a:solidFill>
          <a:ln w="12700">
            <a:solidFill>
              <a:srgbClr val="E4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15768" y="2811780"/>
            <a:ext cx="1691640" cy="64008"/>
          </a:xfrm>
          <a:prstGeom prst="roundRect">
            <a:avLst/>
          </a:prstGeom>
          <a:solidFill>
            <a:srgbClr val="CED9E8"/>
          </a:solidFill>
          <a:ln w="12700">
            <a:solidFill>
              <a:srgbClr val="C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3280" y="2747772"/>
            <a:ext cx="201168" cy="201168"/>
          </a:xfrm>
          <a:prstGeom prst="ellipse">
            <a:avLst/>
          </a:prstGeom>
          <a:solidFill>
            <a:srgbClr val="13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456432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0314F"/>
                </a:solidFill>
                <a:latin typeface="Aptos"/>
              </a:rPr>
              <a:t>Steps last hour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3438144"/>
            <a:ext cx="2011680" cy="237744"/>
          </a:xfrm>
          <a:prstGeom prst="roundRect">
            <a:avLst/>
          </a:prstGeom>
          <a:solidFill>
            <a:srgbClr val="DDF5F1"/>
          </a:solidFill>
          <a:ln w="12700">
            <a:solidFill>
              <a:srgbClr val="DD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15768" y="3525012"/>
            <a:ext cx="1691640" cy="64008"/>
          </a:xfrm>
          <a:prstGeom prst="roundRect">
            <a:avLst/>
          </a:prstGeom>
          <a:solidFill>
            <a:srgbClr val="CED9E8"/>
          </a:solidFill>
          <a:ln w="12700">
            <a:solidFill>
              <a:srgbClr val="C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03320" y="3461004"/>
            <a:ext cx="201168" cy="201168"/>
          </a:xfrm>
          <a:prstGeom prst="ellipse">
            <a:avLst/>
          </a:prstGeom>
          <a:solidFill>
            <a:srgbClr val="1B7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169664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0314F"/>
                </a:solidFill>
                <a:latin typeface="Aptos"/>
              </a:rPr>
              <a:t>Sleep last night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4151376"/>
            <a:ext cx="2011680" cy="237744"/>
          </a:xfrm>
          <a:prstGeom prst="roundRect">
            <a:avLst/>
          </a:prstGeom>
          <a:solidFill>
            <a:srgbClr val="F2EFFE"/>
          </a:solidFill>
          <a:ln w="12700">
            <a:solidFill>
              <a:srgbClr val="F2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15768" y="4238244"/>
            <a:ext cx="1691640" cy="64008"/>
          </a:xfrm>
          <a:prstGeom prst="roundRect">
            <a:avLst/>
          </a:prstGeom>
          <a:solidFill>
            <a:srgbClr val="CED9E8"/>
          </a:solidFill>
          <a:ln w="12700">
            <a:solidFill>
              <a:srgbClr val="C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023360" y="4174236"/>
            <a:ext cx="201168" cy="201168"/>
          </a:xfrm>
          <a:prstGeom prst="ellipse">
            <a:avLst/>
          </a:prstGeom>
          <a:solidFill>
            <a:srgbClr val="786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029200"/>
            <a:ext cx="397763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18A"/>
                </a:solidFill>
                <a:latin typeface="Aptos"/>
              </a:rPr>
              <a:t>Forecast updates when the scenario is applied.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1828800"/>
            <a:ext cx="57150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148840"/>
            <a:ext cx="5166360" cy="2788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80760" y="5074920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1718A"/>
                </a:solidFill>
                <a:latin typeface="Aptos"/>
              </a:rPr>
              <a:t>Global feature importance ≠ causality or a local explanation.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8391A6"/>
                </a:solidFill>
                <a:latin typeface="Aptos"/>
              </a:rPr>
              <a:t>DIGITECH  ·  GLUCOTWIN INDIA  ·  DIGITAL TWIN CHALLENGE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8391A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B7F84"/>
                </a:solidFill>
                <a:latin typeface="Aptos"/>
              </a:rPr>
              <a:t>10 ·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2446"/>
                </a:solidFill>
                <a:latin typeface="Aptos Display"/>
              </a:rPr>
              <a:t>Guardrails are part of the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0432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18A"/>
                </a:solidFill>
                <a:latin typeface="Aptos"/>
              </a:rPr>
              <a:t>The prototype is deliberately positioned as a research demo and clinician review aid, not an automated decision maker.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3429000" cy="128016"/>
          </a:xfrm>
          <a:prstGeom prst="rect">
            <a:avLst/>
          </a:prstGeom>
          <a:solidFill>
            <a:srgbClr val="2F9EAC"/>
          </a:solidFill>
          <a:ln w="12700">
            <a:solidFill>
              <a:srgbClr val="2F9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9260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F9EAC"/>
                </a:solidFill>
                <a:latin typeface="Aptos"/>
              </a:rPr>
              <a:t>WHAT IT DOES</a:t>
            </a:r>
          </a:p>
        </p:txBody>
      </p:sp>
      <p:sp>
        <p:nvSpPr>
          <p:cNvPr id="8" name="Oval 7"/>
          <p:cNvSpPr/>
          <p:nvPr/>
        </p:nvSpPr>
        <p:spPr>
          <a:xfrm>
            <a:off x="877824" y="3063240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971800"/>
            <a:ext cx="2606039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14F"/>
                </a:solidFill>
                <a:latin typeface="Aptos"/>
              </a:rPr>
              <a:t>Joins two synthetic data streams</a:t>
            </a:r>
          </a:p>
        </p:txBody>
      </p:sp>
      <p:sp>
        <p:nvSpPr>
          <p:cNvPr id="10" name="Oval 9"/>
          <p:cNvSpPr/>
          <p:nvPr/>
        </p:nvSpPr>
        <p:spPr>
          <a:xfrm>
            <a:off x="877824" y="3675887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3584448"/>
            <a:ext cx="2606039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14F"/>
                </a:solidFill>
                <a:latin typeface="Aptos"/>
              </a:rPr>
              <a:t>Estimates one narrowly scoped event</a:t>
            </a:r>
          </a:p>
        </p:txBody>
      </p:sp>
      <p:sp>
        <p:nvSpPr>
          <p:cNvPr id="12" name="Oval 11"/>
          <p:cNvSpPr/>
          <p:nvPr/>
        </p:nvSpPr>
        <p:spPr>
          <a:xfrm>
            <a:off x="877824" y="4288536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197096"/>
            <a:ext cx="2606039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14F"/>
                </a:solidFill>
                <a:latin typeface="Aptos"/>
              </a:rPr>
              <a:t>Shows metrics and data lineage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62272" y="196596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62272" y="1965960"/>
            <a:ext cx="3429000" cy="128016"/>
          </a:xfrm>
          <a:prstGeom prst="rect">
            <a:avLst/>
          </a:prstGeom>
          <a:solidFill>
            <a:srgbClr val="C95652"/>
          </a:solidFill>
          <a:ln w="12700">
            <a:solidFill>
              <a:srgbClr val="C95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2331720"/>
            <a:ext cx="29260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95652"/>
                </a:solidFill>
                <a:latin typeface="Aptos"/>
              </a:rPr>
              <a:t>WHAT IT DOES NOT DO</a:t>
            </a:r>
          </a:p>
        </p:txBody>
      </p:sp>
      <p:sp>
        <p:nvSpPr>
          <p:cNvPr id="17" name="Oval 16"/>
          <p:cNvSpPr/>
          <p:nvPr/>
        </p:nvSpPr>
        <p:spPr>
          <a:xfrm>
            <a:off x="4700016" y="3063240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82896" y="2971800"/>
            <a:ext cx="2606039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14F"/>
                </a:solidFill>
                <a:latin typeface="Aptos"/>
              </a:rPr>
              <a:t>Use real patient records or devices</a:t>
            </a:r>
          </a:p>
        </p:txBody>
      </p:sp>
      <p:sp>
        <p:nvSpPr>
          <p:cNvPr id="19" name="Oval 18"/>
          <p:cNvSpPr/>
          <p:nvPr/>
        </p:nvSpPr>
        <p:spPr>
          <a:xfrm>
            <a:off x="4700016" y="3675887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82896" y="3584448"/>
            <a:ext cx="2606039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14F"/>
                </a:solidFill>
                <a:latin typeface="Aptos"/>
              </a:rPr>
              <a:t>Diagnose or recommend medication</a:t>
            </a:r>
          </a:p>
        </p:txBody>
      </p:sp>
      <p:sp>
        <p:nvSpPr>
          <p:cNvPr id="21" name="Oval 20"/>
          <p:cNvSpPr/>
          <p:nvPr/>
        </p:nvSpPr>
        <p:spPr>
          <a:xfrm>
            <a:off x="4700016" y="4288536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82896" y="4197096"/>
            <a:ext cx="2606039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14F"/>
                </a:solidFill>
                <a:latin typeface="Aptos"/>
              </a:rPr>
              <a:t>Prove clinical efficacy or causality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84463" y="196596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84463" y="1965960"/>
            <a:ext cx="3429000" cy="128016"/>
          </a:xfrm>
          <a:prstGeom prst="rect">
            <a:avLst/>
          </a:prstGeom>
          <a:solidFill>
            <a:srgbClr val="7868D9"/>
          </a:solidFill>
          <a:ln w="12700">
            <a:solidFill>
              <a:srgbClr val="786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13063" y="2331720"/>
            <a:ext cx="29260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7868D9"/>
                </a:solidFill>
                <a:latin typeface="Aptos"/>
              </a:rPr>
              <a:t>WHAT COMES NEXT</a:t>
            </a:r>
          </a:p>
        </p:txBody>
      </p:sp>
      <p:sp>
        <p:nvSpPr>
          <p:cNvPr id="26" name="Oval 25"/>
          <p:cNvSpPr/>
          <p:nvPr/>
        </p:nvSpPr>
        <p:spPr>
          <a:xfrm>
            <a:off x="8522207" y="3063240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05087" y="2971800"/>
            <a:ext cx="2606039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14F"/>
                </a:solidFill>
                <a:latin typeface="Aptos"/>
              </a:rPr>
              <a:t>External, governed datasets</a:t>
            </a:r>
          </a:p>
        </p:txBody>
      </p:sp>
      <p:sp>
        <p:nvSpPr>
          <p:cNvPr id="28" name="Oval 27"/>
          <p:cNvSpPr/>
          <p:nvPr/>
        </p:nvSpPr>
        <p:spPr>
          <a:xfrm>
            <a:off x="8522207" y="3675887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05087" y="3584448"/>
            <a:ext cx="2606039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14F"/>
                </a:solidFill>
                <a:latin typeface="Aptos"/>
              </a:rPr>
              <a:t>Calibration + subgroup evaluation</a:t>
            </a:r>
          </a:p>
        </p:txBody>
      </p:sp>
      <p:sp>
        <p:nvSpPr>
          <p:cNvPr id="30" name="Oval 29"/>
          <p:cNvSpPr/>
          <p:nvPr/>
        </p:nvSpPr>
        <p:spPr>
          <a:xfrm>
            <a:off x="8522207" y="4288536"/>
            <a:ext cx="82296" cy="82296"/>
          </a:xfrm>
          <a:prstGeom prst="ellipse">
            <a:avLst/>
          </a:prstGeom>
          <a:solidFill>
            <a:srgbClr val="2F9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05087" y="4197096"/>
            <a:ext cx="2606039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14F"/>
                </a:solidFill>
                <a:latin typeface="Aptos"/>
              </a:rPr>
              <a:t>Clinician workflow and safety review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77840"/>
            <a:ext cx="10927080" cy="502920"/>
          </a:xfrm>
          <a:prstGeom prst="roundRect">
            <a:avLst/>
          </a:prstGeom>
          <a:solidFill>
            <a:srgbClr val="FFF0EF"/>
          </a:solidFill>
          <a:ln w="12700">
            <a:solidFill>
              <a:srgbClr val="F5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715000"/>
            <a:ext cx="10515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D322E"/>
                </a:solidFill>
                <a:latin typeface="Aptos"/>
              </a:rPr>
              <a:t>Synthetic data only · Not validated for real-world use · Never use to make diagnosis, treatment or emergency decisions.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8391A6"/>
                </a:solidFill>
                <a:latin typeface="Aptos"/>
              </a:rPr>
              <a:t>DIGITECH  ·  GLUCOTWIN INDIA  ·  DIGITAL TWIN CHALLENGE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8391A6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4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EE3E2"/>
                </a:solidFill>
                <a:latin typeface="Aptos"/>
              </a:rPr>
              <a:t>11 ·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 Display"/>
              </a:rPr>
              <a:t>A small digital twin —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0432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E1F2"/>
                </a:solidFill>
                <a:latin typeface="Aptos"/>
              </a:rPr>
              <a:t>GlucoTwin India demonstrates the complete challenge loop: patient state → hourly stream → forecast → clinician review.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2423160" cy="1627632"/>
          </a:xfrm>
          <a:prstGeom prst="roundRect">
            <a:avLst/>
          </a:prstGeom>
          <a:solidFill>
            <a:srgbClr val="1E3767"/>
          </a:solidFill>
          <a:ln w="12700">
            <a:solidFill>
              <a:srgbClr val="34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68880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EE3E2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834640"/>
            <a:ext cx="20116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FUSE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255264"/>
            <a:ext cx="198424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6E2F2"/>
                </a:solidFill>
                <a:latin typeface="Aptos"/>
              </a:rPr>
              <a:t>Historical + dynamic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2240280"/>
            <a:ext cx="2423160" cy="1627632"/>
          </a:xfrm>
          <a:prstGeom prst="roundRect">
            <a:avLst/>
          </a:prstGeom>
          <a:solidFill>
            <a:srgbClr val="1E3767"/>
          </a:solidFill>
          <a:ln w="12700">
            <a:solidFill>
              <a:srgbClr val="34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68880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EE3E2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834640"/>
            <a:ext cx="20116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FORECAST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7" y="3255264"/>
            <a:ext cx="198424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6E2F2"/>
                </a:solidFill>
                <a:latin typeface="Aptos"/>
              </a:rPr>
              <a:t>Two-hour event probability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240280"/>
            <a:ext cx="2423160" cy="1627632"/>
          </a:xfrm>
          <a:prstGeom prst="roundRect">
            <a:avLst/>
          </a:prstGeom>
          <a:solidFill>
            <a:srgbClr val="1E3767"/>
          </a:solidFill>
          <a:ln w="12700">
            <a:solidFill>
              <a:srgbClr val="34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68880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EE3E2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834640"/>
            <a:ext cx="20116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3255264"/>
            <a:ext cx="198424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6E2F2"/>
                </a:solidFill>
                <a:latin typeface="Aptos"/>
              </a:rPr>
              <a:t>Model results + limits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59" y="2240280"/>
            <a:ext cx="2423160" cy="1627632"/>
          </a:xfrm>
          <a:prstGeom prst="roundRect">
            <a:avLst/>
          </a:prstGeom>
          <a:solidFill>
            <a:srgbClr val="1E3767"/>
          </a:solidFill>
          <a:ln w="12700">
            <a:solidFill>
              <a:srgbClr val="34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68880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EE3E2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834640"/>
            <a:ext cx="20116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KEEP HUMAN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3255264"/>
            <a:ext cx="198424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6E2F2"/>
                </a:solidFill>
                <a:latin typeface="Aptos"/>
              </a:rPr>
              <a:t>Clinician makes decisions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663440"/>
            <a:ext cx="10881360" cy="685800"/>
          </a:xfrm>
          <a:prstGeom prst="roundRect">
            <a:avLst/>
          </a:prstGeom>
          <a:solidFill>
            <a:srgbClr val="244371"/>
          </a:solidFill>
          <a:ln w="12700">
            <a:solidFill>
              <a:srgbClr val="416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73752"/>
            <a:ext cx="10424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Next milestone: evaluate on governed real-world data with clinical partners before any real deployment.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66928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7EE3E2"/>
                </a:solidFill>
                <a:latin typeface="Aptos"/>
              </a:rPr>
              <a:t>Thank you · DigiTech · GlucoTwin India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9CB4D1"/>
                </a:solidFill>
                <a:latin typeface="Aptos"/>
              </a:rPr>
              <a:t>DIGITECH  ·  GLUCOTWIN INDIA  ·  DIGITAL TWIN CHALLENGE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9CB4D1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B7F84"/>
                </a:solidFill>
                <a:latin typeface="Aptos"/>
              </a:rPr>
              <a:t>APPENDIX ·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2446"/>
                </a:solidFill>
                <a:latin typeface="Aptos Display"/>
              </a:rPr>
              <a:t>Context sources and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0432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18A"/>
                </a:solidFill>
                <a:latin typeface="Aptos"/>
              </a:rPr>
              <a:t>Claims about public-health context are sourced; all model data and evaluation in this repo are synthetic.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108813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79"/>
            <a:ext cx="10195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32446"/>
                </a:solidFill>
                <a:latin typeface="Aptos"/>
              </a:rPr>
              <a:t>International Diabetes Federation — Diabetes Atlas, 11th Edition (2025)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13432"/>
            <a:ext cx="10241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B7F84"/>
                </a:solidFill>
                <a:latin typeface="Aptos"/>
              </a:rPr>
              <a:t>https://diabetesatlas.org/media/uploads/sites/3/2025/10/IDF_Diabetes_Atlas_11th_Edition_2025_WEB.pdf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23744"/>
            <a:ext cx="10241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18A"/>
                </a:solidFill>
                <a:latin typeface="Aptos"/>
              </a:rPr>
              <a:t>India estimate: 90.0 million adults aged 20–79 living with diabetes in 2024.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017520"/>
            <a:ext cx="108813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79"/>
            <a:ext cx="10195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32446"/>
                </a:solidFill>
                <a:latin typeface="Aptos"/>
              </a:rPr>
              <a:t>World Health Organization — Diabetes Fact Sheet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10241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B7F84"/>
                </a:solidFill>
                <a:latin typeface="Aptos"/>
              </a:rPr>
              <a:t>https://www.who.int/news-room/fact-sheets/detail/diabetes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66744"/>
            <a:ext cx="10241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18A"/>
                </a:solidFill>
                <a:latin typeface="Aptos"/>
              </a:rPr>
              <a:t>Overview of diabetes, complications, detection and management.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160520"/>
            <a:ext cx="108813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10195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32446"/>
                </a:solidFill>
                <a:latin typeface="Aptos"/>
              </a:rPr>
              <a:t>Digital Twin Challenge 2026 — Unstop / Happiest 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99431"/>
            <a:ext cx="10241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B7F84"/>
                </a:solidFill>
                <a:latin typeface="Aptos"/>
              </a:rPr>
              <a:t>https://unstop.com/hackathons/crp-digital-twin-challenge-2026-happiest-health-1757873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9744"/>
            <a:ext cx="10241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18A"/>
                </a:solidFill>
                <a:latin typeface="Aptos"/>
              </a:rPr>
              <a:t>Challenge scope, two data streams and repository/video submission checklist.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23560"/>
            <a:ext cx="10607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18A"/>
                </a:solidFill>
                <a:latin typeface="Aptos"/>
              </a:rPr>
              <a:t>Implementation artefacts, generated metrics and limitations are available in the public repository README and docs.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8391A6"/>
                </a:solidFill>
                <a:latin typeface="Aptos"/>
              </a:rPr>
              <a:t>DIGITECH  ·  GLUCOTWIN INDIA  ·  DIGITAL TWIN CHALLENGE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8391A6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